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1" r:id="rId24"/>
    <p:sldId id="272" r:id="rId25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12188825" cy="6858000"/>
  <p:notesSz cx="6858000" cy="121888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q4U8La1jhWBz3fT+Not7RSL+S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75"/>
  </p:normalViewPr>
  <p:slideViewPr>
    <p:cSldViewPr snapToGrid="0">
      <p:cViewPr>
        <p:scale>
          <a:sx n="102" d="100"/>
          <a:sy n="102" d="100"/>
        </p:scale>
        <p:origin x="74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4" Type="http://schemas.openxmlformats.org/officeDocument/2006/relationships/slide" Target="slides/slide16.xml"/>
  <Relationship Id="rId25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150"/>
            <a:ext cx="4572225" cy="4570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89675"/>
            <a:ext cx="5486400" cy="548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5789675"/>
            <a:ext cx="5486400" cy="5484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5225" y="0"/>
            <a:ext cx="533082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5225" y="0"/>
            <a:ext cx="533082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E20040CB-A906-F198-B338-12E0817A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>
            <a:extLst>
              <a:ext uri="{FF2B5EF4-FFF2-40B4-BE49-F238E27FC236}">
                <a16:creationId xmlns:a16="http://schemas.microsoft.com/office/drawing/2014/main" id="{0A2084DD-2402-B4E9-0CE1-9045B2891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5225" y="0"/>
            <a:ext cx="533082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9:notes">
            <a:extLst>
              <a:ext uri="{FF2B5EF4-FFF2-40B4-BE49-F238E27FC236}">
                <a16:creationId xmlns:a16="http://schemas.microsoft.com/office/drawing/2014/main" id="{498FF9FE-79EF-17BD-EA0F-8B5CC6DB6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:notes">
            <a:extLst>
              <a:ext uri="{FF2B5EF4-FFF2-40B4-BE49-F238E27FC236}">
                <a16:creationId xmlns:a16="http://schemas.microsoft.com/office/drawing/2014/main" id="{EDB58E17-7263-23DE-FF93-EB10638866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2215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5225" y="0"/>
            <a:ext cx="533082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5225" y="0"/>
            <a:ext cx="533082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>
            <a:spLocks noGrp="1"/>
          </p:cNvSpPr>
          <p:nvPr>
            <p:ph type="body" idx="1"/>
          </p:nvPr>
        </p:nvSpPr>
        <p:spPr>
          <a:xfrm>
            <a:off x="685800" y="5789675"/>
            <a:ext cx="5486400" cy="5484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5225" y="0"/>
            <a:ext cx="533082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 rot="2700000">
            <a:off x="8641080" y="310896"/>
            <a:ext cx="5669280" cy="512064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 rot="2700000">
            <a:off x="9189720" y="768096"/>
            <a:ext cx="5669280" cy="512064"/>
          </a:xfrm>
          <a:prstGeom prst="rect">
            <a:avLst/>
          </a:prstGeom>
          <a:solidFill>
            <a:srgbClr val="ECEBE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 rot="2700000">
            <a:off x="9738360" y="1225296"/>
            <a:ext cx="5669280" cy="512064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59536" y="11887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SAP DESIGN PHASE  ·  AI-AUGMENTED  ·  BUILT FOR REUSE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178308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6200"/>
              <a:buFont typeface="Arial"/>
              <a:buNone/>
            </a:pPr>
            <a:r>
              <a:rPr lang="en-US" sz="62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lang="en-US" sz="62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veave</a:t>
            </a:r>
            <a:endParaRPr sz="6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30352" y="306324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Process Design Platform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255014"/>
            <a:ext cx="202297" cy="1965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"/>
          <p:cNvGrpSpPr/>
          <p:nvPr/>
        </p:nvGrpSpPr>
        <p:grpSpPr>
          <a:xfrm>
            <a:off x="502920" y="6271041"/>
            <a:ext cx="1500051" cy="387122"/>
            <a:chOff x="502920" y="6271041"/>
            <a:chExt cx="1500051" cy="387122"/>
          </a:xfrm>
        </p:grpSpPr>
        <p:pic>
          <p:nvPicPr>
            <p:cNvPr id="20" name="Google Shape;2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2920" y="6271041"/>
              <a:ext cx="1012414" cy="242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21;p1"/>
            <p:cNvSpPr txBox="1"/>
            <p:nvPr/>
          </p:nvSpPr>
          <p:spPr>
            <a:xfrm>
              <a:off x="502920" y="6442719"/>
              <a:ext cx="1500051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Xveave technologies pvt ltd</a:t>
              </a:r>
              <a:endParaRPr/>
            </a:p>
          </p:txBody>
        </p:sp>
      </p:grpSp>
      <p:sp>
        <p:nvSpPr>
          <p:cNvPr id="22" name="Google Shape;22;p1"/>
          <p:cNvSpPr/>
          <p:nvPr/>
        </p:nvSpPr>
        <p:spPr>
          <a:xfrm>
            <a:off x="530352" y="4069080"/>
            <a:ext cx="85953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Capture the workshop</a:t>
            </a:r>
            <a:r>
              <a:rPr lang="en-US" sz="18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   Structure the design.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Reuse what you've solved.</a:t>
            </a:r>
            <a:r>
              <a:rPr lang="en-US" sz="18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   Let the agent do the routine.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WHAT MAKES AN SAP DESIGN PHASE IMPACTFUL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84632" y="9326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Four things a design phase must </a:t>
            </a:r>
            <a:r>
              <a:rPr lang="en-US" sz="30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get right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13816" y="202082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508760" y="2020824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Reuse proven design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32104" y="2569464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Start from patterns already solved — across your rollouts and past programs — instead of authoring every process from a blank page.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245352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556248" y="202082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251192" y="2020824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Expert time on what's unique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574536" y="2569464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Automate the routine so your consultants spend their hours on the processes that actually differentiate your business.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20" y="3822192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13816" y="405993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508760" y="4059936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See the design take shape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32104" y="4608576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Track progress by process area and requirement — real status, not "we're about 50% done."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245352" y="3822192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56248" y="405993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251192" y="4059936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Review in logical units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574536" y="4608576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The business reviews design as it's built, in digestible pieces — not a 300-page document dropped at the end.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900"/>
              <a:buFont typeface="Consolas"/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813816" y="56692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WHEN THE DESIGN PHASE FALLS SHORT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84632" y="932688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The cost shows up later — </a:t>
            </a:r>
            <a:r>
              <a:rPr lang="en-US" sz="28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and compounds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30352" y="1714500"/>
            <a:ext cx="114300" cy="114300"/>
          </a:xfrm>
          <a:prstGeom prst="ellipse">
            <a:avLst/>
          </a:prstGeom>
          <a:solidFill>
            <a:srgbClr val="AF773C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77240" y="1664208"/>
            <a:ext cx="5074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47%</a:t>
            </a: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 of failed projects trace back to inaccurate requirements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77240" y="2066544"/>
            <a:ext cx="5074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The single biggest controllable cause of failure sits in the design phase — before a line of code exists.</a:t>
            </a:r>
            <a:r>
              <a:rPr lang="en-US" sz="750">
                <a:solidFill>
                  <a:srgbClr val="8A8D93"/>
                </a:solidFill>
                <a:latin typeface="Consolas"/>
                <a:ea typeface="Consolas"/>
                <a:cs typeface="Consolas"/>
                <a:sym typeface="Consolas"/>
              </a:rPr>
              <a:t>  PMI, Pulse of the Profession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30352" y="2647188"/>
            <a:ext cx="114300" cy="114300"/>
          </a:xfrm>
          <a:prstGeom prst="ellipse">
            <a:avLst/>
          </a:prstGeom>
          <a:solidFill>
            <a:srgbClr val="AF773C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77240" y="2596896"/>
            <a:ext cx="5074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Large IT projects deliver 56% less value, run 45% over budget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777240" y="2999232"/>
            <a:ext cx="5074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What survives poor design isn't the plan — it's a diminished version of it.</a:t>
            </a:r>
            <a:r>
              <a:rPr lang="en-US" sz="750">
                <a:solidFill>
                  <a:srgbClr val="8A8D93"/>
                </a:solidFill>
                <a:latin typeface="Consolas"/>
                <a:ea typeface="Consolas"/>
                <a:cs typeface="Consolas"/>
                <a:sym typeface="Consolas"/>
              </a:rPr>
              <a:t>  McKinsey &amp; Univ. of Oxford, 5,400+ projects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30352" y="3579876"/>
            <a:ext cx="114300" cy="114300"/>
          </a:xfrm>
          <a:prstGeom prst="ellipse">
            <a:avLst/>
          </a:prstGeom>
          <a:solidFill>
            <a:srgbClr val="AF773C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77240" y="3529584"/>
            <a:ext cx="5074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S/4HANA reality: only 8% finish on schedule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77240" y="3931920"/>
            <a:ext cx="5074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60%+ exceed budget; 65% find severe quality deficiencies after go-live — root cause: program setup and conceptual preparation.</a:t>
            </a:r>
            <a:r>
              <a:rPr lang="en-US" sz="750">
                <a:solidFill>
                  <a:srgbClr val="8A8D93"/>
                </a:solidFill>
                <a:latin typeface="Consolas"/>
                <a:ea typeface="Consolas"/>
                <a:cs typeface="Consolas"/>
                <a:sym typeface="Consolas"/>
              </a:rPr>
              <a:t>  Horváth S/4HANA Study, 2025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530352" y="4512564"/>
            <a:ext cx="114300" cy="114300"/>
          </a:xfrm>
          <a:prstGeom prst="ellipse">
            <a:avLst/>
          </a:prstGeom>
          <a:solidFill>
            <a:srgbClr val="AF773C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77240" y="4462272"/>
            <a:ext cx="5074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A defect found after delivery costs up to 100× more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77240" y="4864608"/>
            <a:ext cx="5074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…than finding and fixing it during requirements and design.</a:t>
            </a:r>
            <a:r>
              <a:rPr lang="en-US" sz="750">
                <a:solidFill>
                  <a:srgbClr val="8A8D93"/>
                </a:solidFill>
                <a:latin typeface="Consolas"/>
                <a:ea typeface="Consolas"/>
                <a:cs typeface="Consolas"/>
                <a:sym typeface="Consolas"/>
              </a:rPr>
              <a:t>  Boehm &amp; Basili, IEEE Computer, 2001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02920" y="5413248"/>
            <a:ext cx="5349240" cy="566928"/>
          </a:xfrm>
          <a:prstGeom prst="roundRect">
            <a:avLst>
              <a:gd name="adj" fmla="val 14000"/>
            </a:avLst>
          </a:prstGeom>
          <a:solidFill>
            <a:srgbClr val="141519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design phase runs weeks. </a:t>
            </a:r>
            <a:r>
              <a:rPr lang="en-US" sz="1250" b="1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The real cost runs for years.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355080" y="1664208"/>
            <a:ext cx="53309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7C7F86"/>
                </a:solidFill>
                <a:latin typeface="Consolas"/>
                <a:ea typeface="Consolas"/>
                <a:cs typeface="Consolas"/>
                <a:sym typeface="Consolas"/>
              </a:rPr>
              <a:t>COST TO FIX A REQUIREMENTS ERROR, BY PHASE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355080" y="1938528"/>
            <a:ext cx="533095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8A8D93"/>
                </a:solidFill>
                <a:latin typeface="Arial"/>
                <a:ea typeface="Arial"/>
                <a:cs typeface="Arial"/>
                <a:sym typeface="Arial"/>
              </a:rPr>
              <a:t>Relative to fixing it in the requirements phase (1×) — log scale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376111" y="4722419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1×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6522415" y="4978451"/>
            <a:ext cx="731520" cy="69037"/>
          </a:xfrm>
          <a:prstGeom prst="rect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355080" y="5138928"/>
            <a:ext cx="106619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F4147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42302" y="4073469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3–8×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588606" y="4329501"/>
            <a:ext cx="731520" cy="717987"/>
          </a:xfrm>
          <a:prstGeom prst="rect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421270" y="5138928"/>
            <a:ext cx="106619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F4147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508492" y="3797320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7–16×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654796" y="4053352"/>
            <a:ext cx="731520" cy="994136"/>
          </a:xfrm>
          <a:prstGeom prst="rect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487461" y="5138928"/>
            <a:ext cx="106619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F4147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9574682" y="3189793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21–78×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9720986" y="3445825"/>
            <a:ext cx="731520" cy="1601663"/>
          </a:xfrm>
          <a:prstGeom prst="rect">
            <a:avLst/>
          </a:prstGeom>
          <a:solidFill>
            <a:srgbClr val="AF773C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9553651" y="5138928"/>
            <a:ext cx="106619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F4147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0640873" y="214042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29–1,500×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0787177" y="2396460"/>
            <a:ext cx="731520" cy="2651028"/>
          </a:xfrm>
          <a:prstGeom prst="rect">
            <a:avLst/>
          </a:prstGeom>
          <a:solidFill>
            <a:srgbClr val="AF773C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0619842" y="5138928"/>
            <a:ext cx="106619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F4147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355080" y="5047488"/>
            <a:ext cx="5330952" cy="20117"/>
          </a:xfrm>
          <a:prstGeom prst="rect">
            <a:avLst/>
          </a:prstGeom>
          <a:solidFill>
            <a:srgbClr val="C9C5BB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355080" y="5413248"/>
            <a:ext cx="53309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i="1">
                <a:solidFill>
                  <a:srgbClr val="8A8D93"/>
                </a:solidFill>
                <a:latin typeface="Arial"/>
                <a:ea typeface="Arial"/>
                <a:cs typeface="Arial"/>
                <a:sym typeface="Arial"/>
              </a:rPr>
              <a:t>Source: NASA / INCOSE — Haskins, Stecklein et al., “Error Cost Escalation Through the Project Life Cycle,” 2004. Bar heights on a logarithmic scale (upper bound of each range).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02920" y="6089904"/>
            <a:ext cx="11183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solidFill>
                  <a:srgbClr val="A3A6AB"/>
                </a:solidFill>
                <a:latin typeface="Consolas"/>
                <a:ea typeface="Consolas"/>
                <a:cs typeface="Consolas"/>
                <a:sym typeface="Consolas"/>
              </a:rPr>
              <a:t>Sources: NASA/INCOSE 2004 (NTRS 20100036670) · Boehm &amp; Basili, IEEE Computer, Jan 2001 · PMI Pulse of the Profession, Requirements Management, 2014 · McKinsey &amp; Company / Univ. of Oxford, 2012 · Horváth, Business Transformation Unlocked, 2025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/>
          </a:p>
        </p:txBody>
      </p:sp>
      <p:pic>
        <p:nvPicPr>
          <p:cNvPr id="91" name="Google Shape;9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813816" y="502920"/>
            <a:ext cx="91440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THE DESIGN PHASE, REBUILT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84632" y="9326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Same phase — </a:t>
            </a:r>
            <a:r>
              <a:rPr lang="en-US" sz="27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a fundamentally different shape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02920" y="1645920"/>
            <a:ext cx="11155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Every stage of the design phase runs on one platform — and AI runs underneath all of them, turning build-work into verify-work.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02920" y="2468880"/>
            <a:ext cx="1987800" cy="123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303A87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02920" y="2615184"/>
            <a:ext cx="1987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48640" y="2889504"/>
            <a:ext cx="189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472538" y="2468880"/>
            <a:ext cx="3474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801722" y="2468880"/>
            <a:ext cx="1987800" cy="123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303A87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801722" y="2615184"/>
            <a:ext cx="1987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847442" y="2889504"/>
            <a:ext cx="189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Workshop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771339" y="2468880"/>
            <a:ext cx="3474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100523" y="2468880"/>
            <a:ext cx="1987800" cy="123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303A87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100523" y="2615184"/>
            <a:ext cx="1987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146243" y="2889504"/>
            <a:ext cx="189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Structured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BPD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070141" y="2468880"/>
            <a:ext cx="3474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399325" y="2468880"/>
            <a:ext cx="1987800" cy="123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303A87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7399325" y="2615184"/>
            <a:ext cx="1987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445045" y="2889504"/>
            <a:ext cx="189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368942" y="2468880"/>
            <a:ext cx="3474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698165" y="2468880"/>
            <a:ext cx="1987800" cy="123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 cap="flat" cmpd="sng">
            <a:solidFill>
              <a:srgbClr val="303A87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9698126" y="2615184"/>
            <a:ext cx="1987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743846" y="2889504"/>
            <a:ext cx="1896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deliverable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484071" y="3703320"/>
            <a:ext cx="25500" cy="521100"/>
          </a:xfrm>
          <a:prstGeom prst="rect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782873" y="3703320"/>
            <a:ext cx="25500" cy="521100"/>
          </a:xfrm>
          <a:prstGeom prst="rect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081674" y="3703320"/>
            <a:ext cx="25500" cy="521100"/>
          </a:xfrm>
          <a:prstGeom prst="rect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380476" y="3703320"/>
            <a:ext cx="25500" cy="521100"/>
          </a:xfrm>
          <a:prstGeom prst="rect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0679278" y="3703320"/>
            <a:ext cx="25500" cy="521100"/>
          </a:xfrm>
          <a:prstGeom prst="rect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02920" y="4224528"/>
            <a:ext cx="11183100" cy="1051500"/>
          </a:xfrm>
          <a:prstGeom prst="roundRect">
            <a:avLst>
              <a:gd name="adj" fmla="val 8696"/>
            </a:avLst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22960" y="4370832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300"/>
              <a:buFont typeface="Consolas"/>
              <a:buNone/>
            </a:pPr>
            <a:r>
              <a:rPr lang="en-US" sz="130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✦  AI THROUGHOUT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22960" y="4727448"/>
            <a:ext cx="10424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repository · refine notes  ·  propose changes  ·  find similar &amp; reuse  ·  generate tests &amp; authorizations  ·  classify minutes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02920" y="585216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50"/>
              <a:buFont typeface="Arial"/>
              <a:buNone/>
            </a:pPr>
            <a:r>
              <a:rPr lang="en-US" sz="1250" i="1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AI isn't a step in the flow — it's the layer every stage runs on.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02920" y="6455664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900"/>
              <a:buFont typeface="Consolas"/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0972800" y="6455664"/>
            <a:ext cx="713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REUSE — START FROM THE REPOSITORY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84632" y="932688"/>
            <a:ext cx="361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A new rollout starts from </a:t>
            </a:r>
            <a:r>
              <a:rPr lang="en-US" sz="24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the last one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02920" y="251460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Create a project by copying an existing one — then choose exactly what carries over: whole areas, individual processes, and their RICEF. The next rollout starts from proven structure, not an empty page.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251960" y="1874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1 · CHOOSE MODE</a:t>
            </a:r>
            <a:endParaRPr/>
          </a:p>
        </p:txBody>
      </p:sp>
      <p:pic>
        <p:nvPicPr>
          <p:cNvPr id="140" name="Google Shape;14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7131" y="2478024"/>
            <a:ext cx="4024499" cy="2331720"/>
          </a:xfrm>
          <a:prstGeom prst="rect">
            <a:avLst/>
          </a:prstGeom>
          <a:noFill/>
          <a:ln w="9525" cap="flat" cmpd="sng">
            <a:solidFill>
              <a:srgbClr val="C9C5B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1" name="Google Shape;141;p5"/>
          <p:cNvSpPr/>
          <p:nvPr/>
        </p:nvSpPr>
        <p:spPr>
          <a:xfrm>
            <a:off x="9025128" y="1874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2 · SELECT SCOPE</a:t>
            </a:r>
            <a:endParaRPr/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8230" y="2478024"/>
            <a:ext cx="2414699" cy="2331720"/>
          </a:xfrm>
          <a:prstGeom prst="rect">
            <a:avLst/>
          </a:prstGeom>
          <a:noFill/>
          <a:ln w="9525" cap="flat" cmpd="sng">
            <a:solidFill>
              <a:srgbClr val="C9C5B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3" name="Google Shape;143;p5"/>
          <p:cNvSpPr/>
          <p:nvPr/>
        </p:nvSpPr>
        <p:spPr>
          <a:xfrm>
            <a:off x="502920" y="5230368"/>
            <a:ext cx="11183112" cy="804672"/>
          </a:xfrm>
          <a:prstGeom prst="roundRect">
            <a:avLst>
              <a:gd name="adj" fmla="val 12000"/>
            </a:avLst>
          </a:prstGeom>
          <a:solidFill>
            <a:srgbClr val="303A87"/>
          </a:solidFill>
          <a:ln>
            <a:noFill/>
          </a:ln>
        </p:spPr>
        <p:txBody>
          <a:bodyPr spcFirstLastPara="1" wrap="square" lIns="228600" tIns="0" rIns="2286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WHY IT MATTERS   </a:t>
            </a: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next rollout doesn't start from zero — it starts from everything the last one proved.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/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/>
          <p:nvPr/>
        </p:nvSpPr>
        <p:spPr>
          <a:xfrm>
            <a:off x="4457131" y="2240280"/>
            <a:ext cx="4024499" cy="237744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66859" y="2326234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685731" y="2326234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804603" y="2326234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969195" y="2240280"/>
            <a:ext cx="3384419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8A93A6"/>
                </a:solidFill>
                <a:latin typeface="Consolas"/>
                <a:ea typeface="Consolas"/>
                <a:cs typeface="Consolas"/>
                <a:sym typeface="Consolas"/>
              </a:rPr>
              <a:t>CREATE PROJECT · CHOOSE MODE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9148230" y="2240280"/>
            <a:ext cx="2414699" cy="237744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9257958" y="2326234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376830" y="2326234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495702" y="2326234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9660294" y="2240280"/>
            <a:ext cx="1774619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8A93A6"/>
                </a:solidFill>
                <a:latin typeface="Consolas"/>
                <a:ea typeface="Consolas"/>
                <a:cs typeface="Consolas"/>
                <a:sym typeface="Consolas"/>
              </a:rPr>
              <a:t>CREATE PROJECT · SELECT SCOPE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ZOOM IN — A SINGLE WORKSHOP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84632" y="9326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2700"/>
              <a:buFont typeface="Arial"/>
              <a:buNone/>
            </a:pPr>
            <a:r>
              <a:rPr lang="en-US" sz="27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One workshop, </a:t>
            </a:r>
            <a:r>
              <a:rPr lang="en-US" sz="27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before &amp; after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02920" y="1965960"/>
            <a:ext cx="544068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68680" y="224028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TODAY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68680" y="28346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188720" y="28346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Notes scattered — margins, notebooks, laptops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68680" y="349300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188720" y="3493008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Hours of post-workshop typing and sorting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68680" y="4151376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188720" y="4151376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Days waiting on email-based review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68680" y="4809744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188720" y="4809744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Rework cycles on the sticky points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68680" y="5102352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Workshop → reviewable design:  </a:t>
            </a:r>
            <a:r>
              <a:rPr lang="en-US" sz="13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days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245352" y="1965960"/>
            <a:ext cx="5440680" cy="3703320"/>
          </a:xfrm>
          <a:prstGeom prst="roundRect">
            <a:avLst>
              <a:gd name="adj" fmla="val 2469"/>
            </a:avLst>
          </a:prstGeom>
          <a:solidFill>
            <a:srgbClr val="303A87"/>
          </a:solidFill>
          <a:ln>
            <a:noFill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611112" y="224028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WITH </a:t>
            </a:r>
            <a:r>
              <a:rPr lang="en-US" sz="120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611112" y="28346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931152" y="283464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Notes captured live, tagged in context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611112" y="349300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931152" y="3493008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drafts cascading proposals immediately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611112" y="4151376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931152" y="4151376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Consultant reviews &amp; accepts in real time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611112" y="4809744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931152" y="4809744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Per-requirement review can start same day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611112" y="5102352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E7F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7E7F0"/>
                </a:solidFill>
                <a:latin typeface="Arial"/>
                <a:ea typeface="Arial"/>
                <a:cs typeface="Arial"/>
                <a:sym typeface="Arial"/>
              </a:rPr>
              <a:t>Workshop → reviewable design:  </a:t>
            </a:r>
            <a:r>
              <a:rPr lang="en-US" sz="1300" b="1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hours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900"/>
              <a:buFont typeface="Consolas"/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CLASSIFIED BY DESIGN IMPACT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84632" y="932688"/>
            <a:ext cx="55778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It knows what changes the design — </a:t>
            </a:r>
            <a:r>
              <a:rPr lang="en-US" sz="23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and what doesn't</a:t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502920" y="228600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Every workshop note is rewritten into clean, structured language and classified by its design impact — with the reasoning and a confidence score shown. Nothing is filed silently: the consultant accepts, rejects, edits, or reclassifies.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02920" y="4526280"/>
            <a:ext cx="5760720" cy="1417320"/>
          </a:xfrm>
          <a:prstGeom prst="roundRect">
            <a:avLst>
              <a:gd name="adj" fmla="val 9000"/>
            </a:avLst>
          </a:prstGeom>
          <a:solidFill>
            <a:srgbClr val="303A87"/>
          </a:solidFill>
          <a:ln>
            <a:noFill/>
          </a:ln>
        </p:spPr>
        <p:txBody>
          <a:bodyPr spcFirstLastPara="1" wrap="square" lIns="274300" tIns="182875" rIns="274300" bIns="182875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WHY IT MATTERS</a:t>
            </a:r>
            <a:br>
              <a:rPr lang="en-US" sz="120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open question never becomes a design decision by accident — and every call the AI makes is shown with its reasoning, for a person to confirm.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510528" y="918057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NOTE 1 · CHANGES THE DESIGN — ACCEPTED</a:t>
            </a:r>
            <a:endParaRPr dirty="0"/>
          </a:p>
        </p:txBody>
      </p:sp>
      <p:sp>
        <p:nvSpPr>
          <p:cNvPr id="199" name="Google Shape;199;p7"/>
          <p:cNvSpPr/>
          <p:nvPr/>
        </p:nvSpPr>
        <p:spPr>
          <a:xfrm>
            <a:off x="6510528" y="3600430"/>
            <a:ext cx="51755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NOTE 2 · A QUESTION — NO DESIGN CHANGE</a:t>
            </a:r>
            <a:endParaRPr dirty="0"/>
          </a:p>
        </p:txBody>
      </p:sp>
      <p:sp>
        <p:nvSpPr>
          <p:cNvPr id="201" name="Google Shape;201;p7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07</a:t>
            </a:r>
            <a:endParaRPr/>
          </a:p>
        </p:txBody>
      </p:sp>
      <p:pic>
        <p:nvPicPr>
          <p:cNvPr id="203" name="Google Shape;20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24AF58-1F85-6A5E-0F12-8FCA5EB24FBF}"/>
              </a:ext>
            </a:extLst>
          </p:cNvPr>
          <p:cNvGrpSpPr/>
          <p:nvPr/>
        </p:nvGrpSpPr>
        <p:grpSpPr>
          <a:xfrm>
            <a:off x="6510529" y="1241382"/>
            <a:ext cx="4859424" cy="2220730"/>
            <a:chOff x="6826609" y="1600200"/>
            <a:chExt cx="4543343" cy="1946410"/>
          </a:xfrm>
        </p:grpSpPr>
        <p:pic>
          <p:nvPicPr>
            <p:cNvPr id="198" name="Google Shape;198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826609" y="1837944"/>
              <a:ext cx="4543343" cy="1708666"/>
            </a:xfrm>
            <a:prstGeom prst="rect">
              <a:avLst/>
            </a:prstGeom>
            <a:noFill/>
            <a:ln w="9525" cap="flat" cmpd="sng">
              <a:solidFill>
                <a:srgbClr val="C9C5BB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04" name="Google Shape;204;p7"/>
            <p:cNvSpPr/>
            <p:nvPr/>
          </p:nvSpPr>
          <p:spPr>
            <a:xfrm>
              <a:off x="6826609" y="1600200"/>
              <a:ext cx="4543343" cy="237744"/>
            </a:xfrm>
            <a:prstGeom prst="rect">
              <a:avLst/>
            </a:prstGeom>
            <a:solidFill>
              <a:srgbClr val="0D132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6936337" y="1686154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7055209" y="1686154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7174081" y="1686154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7338673" y="1600200"/>
              <a:ext cx="3903263" cy="237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1">
                  <a:solidFill>
                    <a:srgbClr val="8A93A6"/>
                  </a:solidFill>
                  <a:latin typeface="Consolas"/>
                  <a:ea typeface="Consolas"/>
                  <a:cs typeface="Consolas"/>
                  <a:sym typeface="Consolas"/>
                </a:rPr>
                <a:t>REFINE NOTES · DESIGN-RELEVANT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006F866-585F-D6E0-C021-204C00CB64B8}"/>
              </a:ext>
            </a:extLst>
          </p:cNvPr>
          <p:cNvGrpSpPr/>
          <p:nvPr/>
        </p:nvGrpSpPr>
        <p:grpSpPr>
          <a:xfrm>
            <a:off x="6510528" y="3897321"/>
            <a:ext cx="4885457" cy="2353006"/>
            <a:chOff x="6800576" y="4186690"/>
            <a:chExt cx="4595409" cy="2121108"/>
          </a:xfrm>
        </p:grpSpPr>
        <p:pic>
          <p:nvPicPr>
            <p:cNvPr id="200" name="Google Shape;200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800576" y="4424434"/>
              <a:ext cx="4595409" cy="1883364"/>
            </a:xfrm>
            <a:prstGeom prst="rect">
              <a:avLst/>
            </a:prstGeom>
            <a:noFill/>
            <a:ln w="9525" cap="flat" cmpd="sng">
              <a:solidFill>
                <a:srgbClr val="C9C5BB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09" name="Google Shape;209;p7"/>
            <p:cNvSpPr/>
            <p:nvPr/>
          </p:nvSpPr>
          <p:spPr>
            <a:xfrm>
              <a:off x="6800576" y="4186690"/>
              <a:ext cx="4595409" cy="237744"/>
            </a:xfrm>
            <a:prstGeom prst="rect">
              <a:avLst/>
            </a:prstGeom>
            <a:solidFill>
              <a:srgbClr val="0D132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6910304" y="4272644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7029176" y="4272644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7148048" y="4272644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7312640" y="4186690"/>
              <a:ext cx="3955329" cy="237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1">
                  <a:solidFill>
                    <a:srgbClr val="8A93A6"/>
                  </a:solidFill>
                  <a:latin typeface="Consolas"/>
                  <a:ea typeface="Consolas"/>
                  <a:cs typeface="Consolas"/>
                  <a:sym typeface="Consolas"/>
                </a:rPr>
                <a:t>REFINE NOTES · RECORDS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AI THROUGHOUT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84632" y="932688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The agent does the routine — </a:t>
            </a:r>
            <a:r>
              <a:rPr lang="en-US" sz="24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consultants verify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02920" y="187452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22376" y="2048256"/>
            <a:ext cx="310896" cy="310896"/>
          </a:xfrm>
          <a:prstGeom prst="ellipse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22376" y="204825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197864" y="194767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Refine notes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197864" y="22219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Shorthand → clean, structured input.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02920" y="2624328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22376" y="2798064"/>
            <a:ext cx="310896" cy="310896"/>
          </a:xfrm>
          <a:prstGeom prst="ellipse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22376" y="279806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197864" y="2697480"/>
            <a:ext cx="43342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300"/>
              <a:buFont typeface="Arial"/>
              <a:buNone/>
            </a:pPr>
            <a:r>
              <a:rPr lang="en-US" sz="1300" b="1" dirty="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Generate Process diagram using business language</a:t>
            </a:r>
            <a:endParaRPr sz="1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197864" y="29718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rgbClr val="75787F"/>
                </a:solidFill>
              </a:rPr>
              <a:t>Describe the process and let the app build/modify the process diagram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02920" y="3374136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22376" y="3547872"/>
            <a:ext cx="310896" cy="310896"/>
          </a:xfrm>
          <a:prstGeom prst="ellipse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22376" y="35478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1197864" y="344728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Agent proposals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197864" y="3721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Reads notes, drafts changes to accept.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02920" y="4123944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722376" y="4297680"/>
            <a:ext cx="310896" cy="310896"/>
          </a:xfrm>
          <a:prstGeom prst="ellipse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722376" y="42976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197864" y="4197096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Find-similar reuse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1197864" y="447141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Pulls solution + config + RICEF across projects.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02920" y="4873752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22376" y="5047488"/>
            <a:ext cx="310896" cy="310896"/>
          </a:xfrm>
          <a:prstGeom prst="ellipse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22376" y="504748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197864" y="494690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Test-case generation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197864" y="522122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Drawn from the structured requirements.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02920" y="562356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22376" y="5797296"/>
            <a:ext cx="310896" cy="310896"/>
          </a:xfrm>
          <a:prstGeom prst="ellipse">
            <a:avLst/>
          </a:prstGeom>
          <a:solidFill>
            <a:srgbClr val="303A8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722376" y="579729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1197864" y="569671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Authorization matrix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1197864" y="59710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Roles → activities → t-codes / Fiori apps.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900"/>
              <a:buFont typeface="Consolas"/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1576" y="968401"/>
            <a:ext cx="5934329" cy="5296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"/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 dirty="0">
                <a:solidFill>
                  <a:srgbClr val="16181D"/>
                </a:solidFill>
                <a:latin typeface="Consolas"/>
                <a:ea typeface="Arial"/>
                <a:cs typeface="Consolas"/>
                <a:sym typeface="Consolas"/>
              </a:rPr>
              <a:t>AI assisted process diagram generation</a:t>
            </a:r>
            <a:endParaRPr sz="1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84632" y="932688"/>
            <a:ext cx="64190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Business language to </a:t>
            </a:r>
            <a:r>
              <a:rPr lang="en-US" sz="2500" b="1" dirty="0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Process diagram</a:t>
            </a:r>
            <a:endParaRPr sz="2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84632" y="1467612"/>
            <a:ext cx="3814437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350"/>
              <a:buFont typeface="Arial"/>
              <a:buNone/>
            </a:pPr>
            <a:r>
              <a:rPr lang="en-US" sz="1350" dirty="0">
                <a:solidFill>
                  <a:srgbClr val="75787F"/>
                </a:solidFill>
              </a:rPr>
              <a:t>Explain the process in business language</a:t>
            </a:r>
          </a:p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350"/>
              <a:buFont typeface="Arial"/>
              <a:buNone/>
            </a:pPr>
            <a:r>
              <a:rPr lang="en-US" sz="1350" dirty="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And let the app build a process diagram </a:t>
            </a:r>
          </a:p>
        </p:txBody>
      </p:sp>
      <p:sp>
        <p:nvSpPr>
          <p:cNvPr id="263" name="Google Shape;263;p9"/>
          <p:cNvSpPr/>
          <p:nvPr/>
        </p:nvSpPr>
        <p:spPr>
          <a:xfrm>
            <a:off x="502920" y="370332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050"/>
              <a:buFont typeface="Consolas"/>
              <a:buNone/>
            </a:pPr>
            <a:r>
              <a:rPr lang="en-US" sz="1050" b="1" dirty="0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Build process diagram</a:t>
            </a:r>
            <a:endParaRPr sz="105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02920" y="4041648"/>
            <a:ext cx="256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777240" y="4041648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6181D"/>
                </a:solidFill>
              </a:rPr>
              <a:t>Create new process flow using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6181D"/>
                </a:solidFill>
              </a:rPr>
              <a:t>business language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02920" y="4425696"/>
            <a:ext cx="256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77240" y="4425696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6181D"/>
                </a:solidFill>
              </a:rPr>
              <a:t>Edit a generated process flow as needed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02920" y="4809744"/>
            <a:ext cx="256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777240" y="4809744"/>
            <a:ext cx="28803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View before/after and make a prudent call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900"/>
              <a:buFont typeface="Consolas"/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09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9"/>
          <p:cNvSpPr/>
          <p:nvPr/>
        </p:nvSpPr>
        <p:spPr>
          <a:xfrm>
            <a:off x="4171744" y="1905598"/>
            <a:ext cx="7772400" cy="273725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244488" y="2015540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4374929" y="2015543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493801" y="2015540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683808" y="1905598"/>
            <a:ext cx="6933987" cy="27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dirty="0">
                <a:solidFill>
                  <a:srgbClr val="8A93A6"/>
                </a:solidFill>
                <a:latin typeface="Consolas"/>
                <a:cs typeface="Consolas"/>
                <a:sym typeface="Consolas"/>
              </a:rPr>
              <a:t>Create process diagram using business language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6BA06A-3AA8-9B15-5989-2C62F3928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744" y="2223980"/>
            <a:ext cx="7772400" cy="37918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4AD2061B-9EA9-0EF6-D891-F5506A80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">
            <a:extLst>
              <a:ext uri="{FF2B5EF4-FFF2-40B4-BE49-F238E27FC236}">
                <a16:creationId xmlns:a16="http://schemas.microsoft.com/office/drawing/2014/main" id="{2D9C0776-94E5-C78D-B560-5F8EA1ACF4BC}"/>
              </a:ext>
            </a:extLst>
          </p:cNvPr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REUSE — START FROM PROVEN DESIGN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>
            <a:extLst>
              <a:ext uri="{FF2B5EF4-FFF2-40B4-BE49-F238E27FC236}">
                <a16:creationId xmlns:a16="http://schemas.microsoft.com/office/drawing/2014/main" id="{849D815B-9F49-8E0D-B922-529AD4C5DAA8}"/>
              </a:ext>
            </a:extLst>
          </p:cNvPr>
          <p:cNvSpPr/>
          <p:nvPr/>
        </p:nvSpPr>
        <p:spPr>
          <a:xfrm>
            <a:off x="484632" y="932688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2500"/>
              <a:buFont typeface="Arial"/>
              <a:buNone/>
            </a:pPr>
            <a:r>
              <a:rPr lang="en-US" sz="25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Someone already </a:t>
            </a:r>
            <a:r>
              <a:rPr lang="en-US" sz="25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solved this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>
            <a:extLst>
              <a:ext uri="{FF2B5EF4-FFF2-40B4-BE49-F238E27FC236}">
                <a16:creationId xmlns:a16="http://schemas.microsoft.com/office/drawing/2014/main" id="{758D5234-0134-5087-3972-FBCBB006BF50}"/>
              </a:ext>
            </a:extLst>
          </p:cNvPr>
          <p:cNvSpPr/>
          <p:nvPr/>
        </p:nvSpPr>
        <p:spPr>
          <a:xfrm>
            <a:off x="502920" y="2148840"/>
            <a:ext cx="51206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A new requirement matches design proven on another rollout or program. Designveave finds it and pulls the whole cascade — solution, configuration and RICEF — across projects.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>
            <a:extLst>
              <a:ext uri="{FF2B5EF4-FFF2-40B4-BE49-F238E27FC236}">
                <a16:creationId xmlns:a16="http://schemas.microsoft.com/office/drawing/2014/main" id="{CB1CE08C-584B-3442-0130-A8353A9BEE32}"/>
              </a:ext>
            </a:extLst>
          </p:cNvPr>
          <p:cNvSpPr/>
          <p:nvPr/>
        </p:nvSpPr>
        <p:spPr>
          <a:xfrm>
            <a:off x="502920" y="370332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REUSE AT EVERY LEVEL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>
            <a:extLst>
              <a:ext uri="{FF2B5EF4-FFF2-40B4-BE49-F238E27FC236}">
                <a16:creationId xmlns:a16="http://schemas.microsoft.com/office/drawing/2014/main" id="{7C1E695B-D5D4-820D-BFAF-FAE248453FED}"/>
              </a:ext>
            </a:extLst>
          </p:cNvPr>
          <p:cNvSpPr/>
          <p:nvPr/>
        </p:nvSpPr>
        <p:spPr>
          <a:xfrm>
            <a:off x="502920" y="4041648"/>
            <a:ext cx="256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>
            <a:extLst>
              <a:ext uri="{FF2B5EF4-FFF2-40B4-BE49-F238E27FC236}">
                <a16:creationId xmlns:a16="http://schemas.microsoft.com/office/drawing/2014/main" id="{0A0DDDFB-73D2-10D7-A1A9-1001F3300721}"/>
              </a:ext>
            </a:extLst>
          </p:cNvPr>
          <p:cNvSpPr/>
          <p:nvPr/>
        </p:nvSpPr>
        <p:spPr>
          <a:xfrm>
            <a:off x="777240" y="4041648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A full best-practice project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>
            <a:extLst>
              <a:ext uri="{FF2B5EF4-FFF2-40B4-BE49-F238E27FC236}">
                <a16:creationId xmlns:a16="http://schemas.microsoft.com/office/drawing/2014/main" id="{A9E04275-6F2F-8CD2-E091-89ABB2CFDAF0}"/>
              </a:ext>
            </a:extLst>
          </p:cNvPr>
          <p:cNvSpPr/>
          <p:nvPr/>
        </p:nvSpPr>
        <p:spPr>
          <a:xfrm>
            <a:off x="502920" y="4425696"/>
            <a:ext cx="256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>
            <a:extLst>
              <a:ext uri="{FF2B5EF4-FFF2-40B4-BE49-F238E27FC236}">
                <a16:creationId xmlns:a16="http://schemas.microsoft.com/office/drawing/2014/main" id="{864480E8-E55D-5807-8F2E-093A0BBD32D1}"/>
              </a:ext>
            </a:extLst>
          </p:cNvPr>
          <p:cNvSpPr/>
          <p:nvPr/>
        </p:nvSpPr>
        <p:spPr>
          <a:xfrm>
            <a:off x="777240" y="4425696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A subset — phases or modules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>
            <a:extLst>
              <a:ext uri="{FF2B5EF4-FFF2-40B4-BE49-F238E27FC236}">
                <a16:creationId xmlns:a16="http://schemas.microsoft.com/office/drawing/2014/main" id="{D24409BF-C788-0F8D-813B-9F568623C263}"/>
              </a:ext>
            </a:extLst>
          </p:cNvPr>
          <p:cNvSpPr/>
          <p:nvPr/>
        </p:nvSpPr>
        <p:spPr>
          <a:xfrm>
            <a:off x="502920" y="4809744"/>
            <a:ext cx="256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>
            <a:extLst>
              <a:ext uri="{FF2B5EF4-FFF2-40B4-BE49-F238E27FC236}">
                <a16:creationId xmlns:a16="http://schemas.microsoft.com/office/drawing/2014/main" id="{35118348-4E0B-006F-7B9D-AD52A773A9E9}"/>
              </a:ext>
            </a:extLst>
          </p:cNvPr>
          <p:cNvSpPr/>
          <p:nvPr/>
        </p:nvSpPr>
        <p:spPr>
          <a:xfrm>
            <a:off x="777240" y="4809744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An entire area of prior work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>
            <a:extLst>
              <a:ext uri="{FF2B5EF4-FFF2-40B4-BE49-F238E27FC236}">
                <a16:creationId xmlns:a16="http://schemas.microsoft.com/office/drawing/2014/main" id="{1531AB45-EB72-B8F4-319A-C3E1476A6590}"/>
              </a:ext>
            </a:extLst>
          </p:cNvPr>
          <p:cNvSpPr/>
          <p:nvPr/>
        </p:nvSpPr>
        <p:spPr>
          <a:xfrm>
            <a:off x="502920" y="5193792"/>
            <a:ext cx="256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>
            <a:extLst>
              <a:ext uri="{FF2B5EF4-FFF2-40B4-BE49-F238E27FC236}">
                <a16:creationId xmlns:a16="http://schemas.microsoft.com/office/drawing/2014/main" id="{D43724DF-4489-25EE-66DD-969887F040C5}"/>
              </a:ext>
            </a:extLst>
          </p:cNvPr>
          <p:cNvSpPr/>
          <p:nvPr/>
        </p:nvSpPr>
        <p:spPr>
          <a:xfrm>
            <a:off x="777240" y="5193792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A single process within an area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9">
            <a:extLst>
              <a:ext uri="{FF2B5EF4-FFF2-40B4-BE49-F238E27FC236}">
                <a16:creationId xmlns:a16="http://schemas.microsoft.com/office/drawing/2014/main" id="{4331EC87-42ED-DDC0-A2E6-58A4BEFC5B0B}"/>
              </a:ext>
            </a:extLst>
          </p:cNvPr>
          <p:cNvSpPr/>
          <p:nvPr/>
        </p:nvSpPr>
        <p:spPr>
          <a:xfrm>
            <a:off x="502920" y="5577840"/>
            <a:ext cx="256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>
            <a:extLst>
              <a:ext uri="{FF2B5EF4-FFF2-40B4-BE49-F238E27FC236}">
                <a16:creationId xmlns:a16="http://schemas.microsoft.com/office/drawing/2014/main" id="{D18B90DE-3ED9-36E0-750D-73E631778A93}"/>
              </a:ext>
            </a:extLst>
          </p:cNvPr>
          <p:cNvSpPr/>
          <p:nvPr/>
        </p:nvSpPr>
        <p:spPr>
          <a:xfrm>
            <a:off x="777240" y="557784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One requirement + its cascade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>
            <a:extLst>
              <a:ext uri="{FF2B5EF4-FFF2-40B4-BE49-F238E27FC236}">
                <a16:creationId xmlns:a16="http://schemas.microsoft.com/office/drawing/2014/main" id="{DAFE7CBB-42FD-2053-37BC-F65C623F3193}"/>
              </a:ext>
            </a:extLst>
          </p:cNvPr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900"/>
              <a:buFont typeface="Consolas"/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>
            <a:extLst>
              <a:ext uri="{FF2B5EF4-FFF2-40B4-BE49-F238E27FC236}">
                <a16:creationId xmlns:a16="http://schemas.microsoft.com/office/drawing/2014/main" id="{E14CADBF-EDEC-7A8D-D303-736E2F2ADA63}"/>
              </a:ext>
            </a:extLst>
          </p:cNvPr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09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9">
            <a:extLst>
              <a:ext uri="{FF2B5EF4-FFF2-40B4-BE49-F238E27FC236}">
                <a16:creationId xmlns:a16="http://schemas.microsoft.com/office/drawing/2014/main" id="{2961F5D9-CDA4-75D8-4F4B-084521696C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1593" y="905691"/>
            <a:ext cx="5933779" cy="5449389"/>
          </a:xfrm>
          <a:prstGeom prst="rect">
            <a:avLst/>
          </a:prstGeom>
          <a:noFill/>
          <a:ln w="9525" cap="flat" cmpd="sng">
            <a:solidFill>
              <a:srgbClr val="C9C5BB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7" name="Google Shape;277;p9">
            <a:extLst>
              <a:ext uri="{FF2B5EF4-FFF2-40B4-BE49-F238E27FC236}">
                <a16:creationId xmlns:a16="http://schemas.microsoft.com/office/drawing/2014/main" id="{F5E353B5-151D-5490-34E2-DBF9CD57D2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9">
            <a:extLst>
              <a:ext uri="{FF2B5EF4-FFF2-40B4-BE49-F238E27FC236}">
                <a16:creationId xmlns:a16="http://schemas.microsoft.com/office/drawing/2014/main" id="{BA00CAE5-3DC9-8BD1-FB9D-9C72274DC43B}"/>
              </a:ext>
            </a:extLst>
          </p:cNvPr>
          <p:cNvSpPr/>
          <p:nvPr/>
        </p:nvSpPr>
        <p:spPr>
          <a:xfrm>
            <a:off x="5581593" y="667947"/>
            <a:ext cx="5933779" cy="237744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>
            <a:extLst>
              <a:ext uri="{FF2B5EF4-FFF2-40B4-BE49-F238E27FC236}">
                <a16:creationId xmlns:a16="http://schemas.microsoft.com/office/drawing/2014/main" id="{38A80701-0067-A2B4-AE9C-75EC13B7999A}"/>
              </a:ext>
            </a:extLst>
          </p:cNvPr>
          <p:cNvSpPr/>
          <p:nvPr/>
        </p:nvSpPr>
        <p:spPr>
          <a:xfrm>
            <a:off x="5691321" y="753901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>
            <a:extLst>
              <a:ext uri="{FF2B5EF4-FFF2-40B4-BE49-F238E27FC236}">
                <a16:creationId xmlns:a16="http://schemas.microsoft.com/office/drawing/2014/main" id="{D34DA78F-1EB6-6F02-3201-42D2D6CB0F52}"/>
              </a:ext>
            </a:extLst>
          </p:cNvPr>
          <p:cNvSpPr/>
          <p:nvPr/>
        </p:nvSpPr>
        <p:spPr>
          <a:xfrm>
            <a:off x="5810193" y="753901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>
            <a:extLst>
              <a:ext uri="{FF2B5EF4-FFF2-40B4-BE49-F238E27FC236}">
                <a16:creationId xmlns:a16="http://schemas.microsoft.com/office/drawing/2014/main" id="{6725E40F-3E2F-6A31-1D3B-F6DFC8081A61}"/>
              </a:ext>
            </a:extLst>
          </p:cNvPr>
          <p:cNvSpPr/>
          <p:nvPr/>
        </p:nvSpPr>
        <p:spPr>
          <a:xfrm>
            <a:off x="5929065" y="753901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>
            <a:extLst>
              <a:ext uri="{FF2B5EF4-FFF2-40B4-BE49-F238E27FC236}">
                <a16:creationId xmlns:a16="http://schemas.microsoft.com/office/drawing/2014/main" id="{C69C3157-1569-E531-2070-ADA33F73F491}"/>
              </a:ext>
            </a:extLst>
          </p:cNvPr>
          <p:cNvSpPr/>
          <p:nvPr/>
        </p:nvSpPr>
        <p:spPr>
          <a:xfrm>
            <a:off x="6093657" y="667947"/>
            <a:ext cx="5293699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8A93A6"/>
                </a:solidFill>
                <a:latin typeface="Consolas"/>
                <a:ea typeface="Consolas"/>
                <a:cs typeface="Consolas"/>
                <a:sym typeface="Consolas"/>
              </a:rPr>
              <a:t>FIND SIMILAR · COPY FROM SOURCE BPD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441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"/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CONTINUOUS REVIEW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84632" y="932688"/>
            <a:ext cx="476228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2300"/>
              <a:buFont typeface="Arial"/>
              <a:buNone/>
            </a:pPr>
            <a:r>
              <a:rPr lang="en-US" sz="23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The business reviews the design </a:t>
            </a:r>
            <a:r>
              <a:rPr lang="en-US" sz="23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as it's built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02920" y="2194560"/>
            <a:ext cx="4101737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Instead of a 300-page document dropped at the end — reviewed in a rush when the team is already overwhelmed — the business sees the design take shape and approves it in logical units, the moment each piece is ready.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02920" y="4709160"/>
            <a:ext cx="5074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Real understanding at sign-off — not a rushed rubber-stamp.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900"/>
              <a:buFont typeface="Consolas"/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09907B8-54DD-4FA8-D530-B2C6166E4839}"/>
              </a:ext>
            </a:extLst>
          </p:cNvPr>
          <p:cNvGrpSpPr/>
          <p:nvPr/>
        </p:nvGrpSpPr>
        <p:grpSpPr>
          <a:xfrm>
            <a:off x="5246913" y="1230087"/>
            <a:ext cx="6648147" cy="4186865"/>
            <a:chOff x="5566399" y="1230087"/>
            <a:chExt cx="6328661" cy="3701142"/>
          </a:xfrm>
        </p:grpSpPr>
        <p:pic>
          <p:nvPicPr>
            <p:cNvPr id="294" name="Google Shape;294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66399" y="1467831"/>
              <a:ext cx="6328661" cy="3463398"/>
            </a:xfrm>
            <a:prstGeom prst="rect">
              <a:avLst/>
            </a:prstGeom>
            <a:noFill/>
            <a:ln w="9525" cap="flat" cmpd="sng">
              <a:solidFill>
                <a:srgbClr val="C9C5BB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96" name="Google Shape;296;p10"/>
            <p:cNvSpPr/>
            <p:nvPr/>
          </p:nvSpPr>
          <p:spPr>
            <a:xfrm>
              <a:off x="5566399" y="1230087"/>
              <a:ext cx="6328661" cy="237744"/>
            </a:xfrm>
            <a:prstGeom prst="rect">
              <a:avLst/>
            </a:prstGeom>
            <a:solidFill>
              <a:srgbClr val="0D132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5676127" y="1316041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5794999" y="1316041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5913871" y="1316041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6078463" y="1230087"/>
              <a:ext cx="5688581" cy="237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1">
                  <a:solidFill>
                    <a:srgbClr val="8A93A6"/>
                  </a:solidFill>
                  <a:latin typeface="Consolas"/>
                  <a:ea typeface="Consolas"/>
                  <a:cs typeface="Consolas"/>
                  <a:sym typeface="Consolas"/>
                </a:rPr>
                <a:t>BPD · REVIEW &amp; APPROVE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VISIBILITY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84632" y="932688"/>
            <a:ext cx="425413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Progress you can </a:t>
            </a:r>
            <a:r>
              <a:rPr lang="en-US" sz="26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see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02920" y="2194560"/>
            <a:ext cx="4254137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No more "we're about 50% done." Every requirement carries a status; every solution, config and RICEF links back to the requirement it serves. Leadership sees where each design stands — by process area, by BPD, by element — and where the effort is going.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02920" y="51206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3A87"/>
              </a:buClr>
              <a:buSzPts val="1300"/>
              <a:buFont typeface="Arial"/>
              <a:buNone/>
            </a:pPr>
            <a:r>
              <a:rPr lang="en-US" sz="1300" i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From "consultant says 50%" to evidence you can act on.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900"/>
              <a:buFont typeface="Consolas"/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7736" y="1545516"/>
            <a:ext cx="6452352" cy="3977906"/>
          </a:xfrm>
          <a:prstGeom prst="rect">
            <a:avLst/>
          </a:prstGeom>
          <a:noFill/>
          <a:ln w="9525" cap="flat" cmpd="sng">
            <a:solidFill>
              <a:srgbClr val="C9C5BB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3" name="Google Shape;313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/>
          <p:nvPr/>
        </p:nvSpPr>
        <p:spPr>
          <a:xfrm>
            <a:off x="5267736" y="1307772"/>
            <a:ext cx="6452352" cy="237744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377464" y="1393726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5496336" y="1393726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615208" y="1393726"/>
            <a:ext cx="65837" cy="65837"/>
          </a:xfrm>
          <a:prstGeom prst="ellipse">
            <a:avLst/>
          </a:prstGeom>
          <a:solidFill>
            <a:srgbClr val="4A51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779800" y="1307772"/>
            <a:ext cx="58122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rgbClr val="8A93A6"/>
                </a:solidFill>
                <a:latin typeface="Consolas"/>
                <a:ea typeface="Consolas"/>
                <a:cs typeface="Consolas"/>
                <a:sym typeface="Consolas"/>
              </a:rPr>
              <a:t>PROJECT DASHBOARD · PROGRESS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"/>
          <p:cNvSpPr/>
          <p:nvPr/>
        </p:nvSpPr>
        <p:spPr>
          <a:xfrm>
            <a:off x="813816" y="566928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GOVERNANCE — ACCESS &amp; AUDIT</a:t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484632" y="932688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Who can see what — </a:t>
            </a:r>
            <a:r>
              <a:rPr lang="en-US" sz="27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and a record of every change</a:t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530352" y="136398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Design is commercial-in-confidence and contractually binding. Access is scoped to the role — and every change to it is evidence, not memory.</a:t>
            </a:r>
            <a:endParaRPr dirty="0"/>
          </a:p>
        </p:txBody>
      </p:sp>
      <p:sp>
        <p:nvSpPr>
          <p:cNvPr id="331" name="Google Shape;331;p12"/>
          <p:cNvSpPr/>
          <p:nvPr/>
        </p:nvSpPr>
        <p:spPr>
          <a:xfrm>
            <a:off x="502920" y="5229788"/>
            <a:ext cx="5440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ROLE-BASED ACCESS</a:t>
            </a:r>
            <a:br>
              <a:rPr lang="en-US" sz="850" b="1" dirty="0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 dirty="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Consultants, reviewers, admins and business owners each see what their role needs — no more. A customer reviewing their design doesn't get your whole repository.</a:t>
            </a:r>
            <a:endParaRPr dirty="0"/>
          </a:p>
        </p:txBody>
      </p:sp>
      <p:sp>
        <p:nvSpPr>
          <p:cNvPr id="337" name="Google Shape;337;p12"/>
          <p:cNvSpPr/>
          <p:nvPr/>
        </p:nvSpPr>
        <p:spPr>
          <a:xfrm>
            <a:off x="6511570" y="5276088"/>
            <a:ext cx="5440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EVERY CHANGE, ATTRIBUTED</a:t>
            </a:r>
            <a:br>
              <a:rPr lang="en-US" sz="850" b="1" dirty="0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 dirty="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Who changed it, when, what it was before — and whether a person or the agent made </a:t>
            </a:r>
          </a:p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the change. Approvals carry their own trail.</a:t>
            </a:r>
            <a:endParaRPr dirty="0"/>
          </a:p>
        </p:txBody>
      </p:sp>
      <p:sp>
        <p:nvSpPr>
          <p:cNvPr id="338" name="Google Shape;338;p12"/>
          <p:cNvSpPr/>
          <p:nvPr/>
        </p:nvSpPr>
        <p:spPr>
          <a:xfrm>
            <a:off x="502920" y="5833872"/>
            <a:ext cx="11183112" cy="502920"/>
          </a:xfrm>
          <a:prstGeom prst="roundRect">
            <a:avLst>
              <a:gd name="adj" fmla="val 16000"/>
            </a:avLst>
          </a:prstGeom>
          <a:solidFill>
            <a:srgbClr val="303A87"/>
          </a:solidFill>
          <a:ln>
            <a:noFill/>
          </a:ln>
        </p:spPr>
        <p:txBody>
          <a:bodyPr spcFirstLastPara="1" wrap="square" lIns="274300" tIns="0" rIns="2743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AF773C"/>
                </a:solidFill>
                <a:latin typeface="Consolas"/>
                <a:ea typeface="Consolas"/>
                <a:cs typeface="Consolas"/>
                <a:sym typeface="Consolas"/>
              </a:rPr>
              <a:t>WHY IT MATTERS   </a:t>
            </a:r>
            <a:r>
              <a:rPr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years post go-live, “why was it built this way?” has an answer — with a name and a date against it.</a:t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/>
          </a:p>
        </p:txBody>
      </p:sp>
      <p:pic>
        <p:nvPicPr>
          <p:cNvPr id="341" name="Google Shape;34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0EFD373-02BA-D584-A7DA-27C72C2E0954}"/>
              </a:ext>
            </a:extLst>
          </p:cNvPr>
          <p:cNvGrpSpPr/>
          <p:nvPr/>
        </p:nvGrpSpPr>
        <p:grpSpPr>
          <a:xfrm>
            <a:off x="6672431" y="1876044"/>
            <a:ext cx="4566587" cy="3319133"/>
            <a:chOff x="6512147" y="2303102"/>
            <a:chExt cx="4566587" cy="3319133"/>
          </a:xfrm>
        </p:grpSpPr>
        <p:sp>
          <p:nvSpPr>
            <p:cNvPr id="23" name="Google Shape;332;p12">
              <a:extLst>
                <a:ext uri="{FF2B5EF4-FFF2-40B4-BE49-F238E27FC236}">
                  <a16:creationId xmlns:a16="http://schemas.microsoft.com/office/drawing/2014/main" id="{C7EB0FF4-D143-B512-A1CE-94BED761DB64}"/>
                </a:ext>
              </a:extLst>
            </p:cNvPr>
            <p:cNvSpPr/>
            <p:nvPr/>
          </p:nvSpPr>
          <p:spPr>
            <a:xfrm>
              <a:off x="6512147" y="2303102"/>
              <a:ext cx="4252307" cy="207633"/>
            </a:xfrm>
            <a:prstGeom prst="rect">
              <a:avLst/>
            </a:prstGeom>
            <a:solidFill>
              <a:srgbClr val="0D132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335;p12">
              <a:extLst>
                <a:ext uri="{FF2B5EF4-FFF2-40B4-BE49-F238E27FC236}">
                  <a16:creationId xmlns:a16="http://schemas.microsoft.com/office/drawing/2014/main" id="{97642D07-3A1F-ACD5-5D50-3DB75DD61D34}"/>
                </a:ext>
              </a:extLst>
            </p:cNvPr>
            <p:cNvSpPr/>
            <p:nvPr/>
          </p:nvSpPr>
          <p:spPr>
            <a:xfrm>
              <a:off x="6755947" y="2378986"/>
              <a:ext cx="57258" cy="57499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336;p12">
              <a:extLst>
                <a:ext uri="{FF2B5EF4-FFF2-40B4-BE49-F238E27FC236}">
                  <a16:creationId xmlns:a16="http://schemas.microsoft.com/office/drawing/2014/main" id="{823487BB-E50D-70D6-1420-4CB0499870F0}"/>
                </a:ext>
              </a:extLst>
            </p:cNvPr>
            <p:cNvSpPr/>
            <p:nvPr/>
          </p:nvSpPr>
          <p:spPr>
            <a:xfrm>
              <a:off x="6903720" y="2303102"/>
              <a:ext cx="4175014" cy="207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1" dirty="0">
                  <a:solidFill>
                    <a:srgbClr val="8A93A6"/>
                  </a:solidFill>
                  <a:latin typeface="Consolas"/>
                  <a:ea typeface="Consolas"/>
                  <a:cs typeface="Consolas"/>
                  <a:sym typeface="Consolas"/>
                </a:rPr>
                <a:t>BPD · AUDIT LOG · CHANGE HISTORY</a:t>
              </a:r>
              <a:endParaRPr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74A81D2-6005-11B0-5B13-DED81C89A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2148" y="2510735"/>
              <a:ext cx="4229100" cy="31115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969BB3-0B48-0B87-9C2F-FACBA9C3A803}"/>
              </a:ext>
            </a:extLst>
          </p:cNvPr>
          <p:cNvGrpSpPr/>
          <p:nvPr/>
        </p:nvGrpSpPr>
        <p:grpSpPr>
          <a:xfrm>
            <a:off x="503396" y="1870466"/>
            <a:ext cx="5533406" cy="3270992"/>
            <a:chOff x="398748" y="2192256"/>
            <a:chExt cx="5533406" cy="3270992"/>
          </a:xfrm>
        </p:grpSpPr>
        <p:sp>
          <p:nvSpPr>
            <p:cNvPr id="30" name="Google Shape;326;p12">
              <a:extLst>
                <a:ext uri="{FF2B5EF4-FFF2-40B4-BE49-F238E27FC236}">
                  <a16:creationId xmlns:a16="http://schemas.microsoft.com/office/drawing/2014/main" id="{26228D9F-655D-6CAA-AAD7-EF1F1635B250}"/>
                </a:ext>
              </a:extLst>
            </p:cNvPr>
            <p:cNvSpPr/>
            <p:nvPr/>
          </p:nvSpPr>
          <p:spPr>
            <a:xfrm>
              <a:off x="398748" y="2222272"/>
              <a:ext cx="5530483" cy="206527"/>
            </a:xfrm>
            <a:prstGeom prst="rect">
              <a:avLst/>
            </a:prstGeom>
            <a:solidFill>
              <a:srgbClr val="0D132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327;p12">
              <a:extLst>
                <a:ext uri="{FF2B5EF4-FFF2-40B4-BE49-F238E27FC236}">
                  <a16:creationId xmlns:a16="http://schemas.microsoft.com/office/drawing/2014/main" id="{0480CE81-9E38-3C6A-EBE7-868D5A47A050}"/>
                </a:ext>
              </a:extLst>
            </p:cNvPr>
            <p:cNvSpPr/>
            <p:nvPr/>
          </p:nvSpPr>
          <p:spPr>
            <a:xfrm>
              <a:off x="624223" y="2278210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328;p12">
              <a:extLst>
                <a:ext uri="{FF2B5EF4-FFF2-40B4-BE49-F238E27FC236}">
                  <a16:creationId xmlns:a16="http://schemas.microsoft.com/office/drawing/2014/main" id="{43203A57-763C-BE37-1240-8011AFE440D2}"/>
                </a:ext>
              </a:extLst>
            </p:cNvPr>
            <p:cNvSpPr/>
            <p:nvPr/>
          </p:nvSpPr>
          <p:spPr>
            <a:xfrm>
              <a:off x="743095" y="2278210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329;p12">
              <a:extLst>
                <a:ext uri="{FF2B5EF4-FFF2-40B4-BE49-F238E27FC236}">
                  <a16:creationId xmlns:a16="http://schemas.microsoft.com/office/drawing/2014/main" id="{E6C83220-B6FF-BE39-8A98-B8C4E1202179}"/>
                </a:ext>
              </a:extLst>
            </p:cNvPr>
            <p:cNvSpPr/>
            <p:nvPr/>
          </p:nvSpPr>
          <p:spPr>
            <a:xfrm>
              <a:off x="861967" y="2278210"/>
              <a:ext cx="65837" cy="65837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330;p12">
              <a:extLst>
                <a:ext uri="{FF2B5EF4-FFF2-40B4-BE49-F238E27FC236}">
                  <a16:creationId xmlns:a16="http://schemas.microsoft.com/office/drawing/2014/main" id="{47D703C0-A18D-1DA4-955C-40227515B592}"/>
                </a:ext>
              </a:extLst>
            </p:cNvPr>
            <p:cNvSpPr/>
            <p:nvPr/>
          </p:nvSpPr>
          <p:spPr>
            <a:xfrm>
              <a:off x="1026559" y="2192256"/>
              <a:ext cx="4800600" cy="2377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1" dirty="0">
                  <a:solidFill>
                    <a:srgbClr val="8A93A6"/>
                  </a:solidFill>
                  <a:latin typeface="Consolas"/>
                  <a:ea typeface="Consolas"/>
                  <a:cs typeface="Consolas"/>
                  <a:sym typeface="Consolas"/>
                </a:rPr>
                <a:t>ADMIN · ROLES &amp; ACCESS</a:t>
              </a:r>
              <a:endParaRPr dirty="0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F567735-BDF4-21CA-F7BE-B7E58DD36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8748" y="2428800"/>
              <a:ext cx="5533406" cy="30344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ADOPTION — AI HELP BUILT IN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484632" y="932688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2600"/>
              <a:buFont typeface="Arial"/>
              <a:buNone/>
            </a:pPr>
            <a:r>
              <a:rPr lang="en-US" sz="2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Built-in AI help to navigate the application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02920" y="210312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There's no training programme to organise. Help lives inside the product — ask a question in plain English and get step-by-step, click-through guidance for any part of the application, in context, at the moment it's needed.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900"/>
              <a:buFont typeface="Consolas"/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6587BD5-C3A6-6955-134B-4F424A3B19E4}"/>
              </a:ext>
            </a:extLst>
          </p:cNvPr>
          <p:cNvGrpSpPr/>
          <p:nvPr/>
        </p:nvGrpSpPr>
        <p:grpSpPr>
          <a:xfrm>
            <a:off x="4446415" y="1581912"/>
            <a:ext cx="6919364" cy="4087368"/>
            <a:chOff x="4446415" y="1581912"/>
            <a:chExt cx="6919364" cy="4087368"/>
          </a:xfrm>
        </p:grpSpPr>
        <p:pic>
          <p:nvPicPr>
            <p:cNvPr id="355" name="Google Shape;355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459520" y="1889674"/>
              <a:ext cx="6894684" cy="3779606"/>
            </a:xfrm>
            <a:prstGeom prst="rect">
              <a:avLst/>
            </a:prstGeom>
            <a:noFill/>
            <a:ln w="9525" cap="flat" cmpd="sng">
              <a:solidFill>
                <a:srgbClr val="C9C5BB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357" name="Google Shape;357;p13"/>
            <p:cNvSpPr/>
            <p:nvPr/>
          </p:nvSpPr>
          <p:spPr>
            <a:xfrm>
              <a:off x="4446415" y="1581912"/>
              <a:ext cx="6919364" cy="307762"/>
            </a:xfrm>
            <a:prstGeom prst="rect">
              <a:avLst/>
            </a:prstGeom>
            <a:solidFill>
              <a:srgbClr val="0D132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4576501" y="1719379"/>
              <a:ext cx="70189" cy="73863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4703230" y="1719379"/>
              <a:ext cx="70189" cy="73863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4829959" y="1719379"/>
              <a:ext cx="70189" cy="73863"/>
            </a:xfrm>
            <a:prstGeom prst="ellipse">
              <a:avLst/>
            </a:prstGeom>
            <a:solidFill>
              <a:srgbClr val="4A5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5005429" y="1622947"/>
              <a:ext cx="6212297" cy="2667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 b="1">
                  <a:solidFill>
                    <a:srgbClr val="8A93A6"/>
                  </a:solidFill>
                  <a:latin typeface="Consolas"/>
                  <a:ea typeface="Consolas"/>
                  <a:cs typeface="Consolas"/>
                  <a:sym typeface="Consolas"/>
                </a:rPr>
                <a:t>BPD · IN-APP AI HELP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"/>
          <p:cNvSpPr/>
          <p:nvPr/>
        </p:nvSpPr>
        <p:spPr>
          <a:xfrm rot="2700000">
            <a:off x="8641080" y="310896"/>
            <a:ext cx="5669280" cy="512064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 rot="2700000">
            <a:off x="9189720" y="768096"/>
            <a:ext cx="5669280" cy="512064"/>
          </a:xfrm>
          <a:prstGeom prst="rect">
            <a:avLst/>
          </a:prstGeom>
          <a:solidFill>
            <a:srgbClr val="ECEBE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 rot="2700000">
            <a:off x="9738360" y="1225296"/>
            <a:ext cx="5669280" cy="512064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813816" y="64008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THE OUTCOME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484632" y="109728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A design phase that finishes on time — </a:t>
            </a:r>
            <a:r>
              <a:rPr lang="en-US" sz="32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and holds up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502920" y="22860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813816" y="25237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234440" y="248716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Finishes on time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234440" y="2852928"/>
            <a:ext cx="4434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Faster authoring and continuous review mean the phase ends on schedule, not in emergency mode.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6245352" y="22860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6556248" y="25237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6976872" y="248716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The business understood it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976872" y="2852928"/>
            <a:ext cx="4434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Reviewed in logical units as it was built — real sign-off, not a rushed rubber-stamp.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502920" y="37947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813816" y="40325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1234440" y="399592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Build starts on solid ground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234440" y="4361688"/>
            <a:ext cx="4434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Specs written from sound design, fewer gaps waiting to surface in testing.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6245352" y="37947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6556248" y="40325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6976872" y="399592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Knowledge stays with the program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6976872" y="4361688"/>
            <a:ext cx="4434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Captured in a reusable repository — it doesn't walk out when consultants roll off.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50292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The design phase, made productive for both the SI and the customer.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706374"/>
            <a:ext cx="202297" cy="1965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14"/>
          <p:cNvGrpSpPr/>
          <p:nvPr/>
        </p:nvGrpSpPr>
        <p:grpSpPr>
          <a:xfrm>
            <a:off x="502920" y="6271041"/>
            <a:ext cx="1500051" cy="387122"/>
            <a:chOff x="502920" y="6271041"/>
            <a:chExt cx="1500051" cy="387122"/>
          </a:xfrm>
        </p:grpSpPr>
        <p:pic>
          <p:nvPicPr>
            <p:cNvPr id="391" name="Google Shape;391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2920" y="6271041"/>
              <a:ext cx="1012414" cy="242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14"/>
            <p:cNvSpPr txBox="1"/>
            <p:nvPr/>
          </p:nvSpPr>
          <p:spPr>
            <a:xfrm>
              <a:off x="502920" y="6442719"/>
              <a:ext cx="1500051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Xveave technologies pvt ltd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813816" y="50292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WHY IT PAYS OFF INSIDE YOUR PRACTICE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84632" y="9326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Four ways it changes your </a:t>
            </a:r>
            <a:r>
              <a:rPr lang="en-US" sz="30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delivery economics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13816" y="202082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508760" y="2020824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More throughput per consultant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32104" y="2569464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A faster design phase means each consultant delivers more engagements a year — the same team, more billable projects, higher utilisation.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245352" y="178308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556248" y="202082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251192" y="2020824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Protect fixed-price margin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574536" y="2569464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Design rework is where fixed-price margin quietly disappears. Catching design gaps early — before build — keeps the profit in the project.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20" y="3822192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13816" y="405993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508760" y="4059936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Leverage past senior scarcity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32104" y="4608576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Junior consultants deliver senior-quality design when the AI and a proven repository carry the expertise — less dependence on scarce architects.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245352" y="3822192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56248" y="405993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251192" y="4059936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Consistent quality across teams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574536" y="4608576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Every consultant works the same structured way, so design quality doesn’t swing with who’s staffed — fewer weak deliverables to catch and rework later.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900"/>
              <a:buFont typeface="Consolas"/>
              <a:buNone/>
            </a:pPr>
            <a:r>
              <a:rPr lang="en-US" sz="900" b="1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Designveave</a:t>
            </a: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  ·  Process Design Platform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972800" y="6455664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75787F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569214"/>
            <a:ext cx="202297" cy="19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"/>
          <p:cNvSpPr/>
          <p:nvPr/>
        </p:nvSpPr>
        <p:spPr>
          <a:xfrm rot="2700000">
            <a:off x="8641080" y="310896"/>
            <a:ext cx="5669280" cy="512064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 rot="2700000">
            <a:off x="9189720" y="768096"/>
            <a:ext cx="5669280" cy="512064"/>
          </a:xfrm>
          <a:prstGeom prst="rect">
            <a:avLst/>
          </a:prstGeom>
          <a:solidFill>
            <a:srgbClr val="ECEBE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 rot="2700000">
            <a:off x="9738360" y="1225296"/>
            <a:ext cx="5669280" cy="512064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813816" y="640080"/>
            <a:ext cx="9144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16181D"/>
                </a:solidFill>
                <a:latin typeface="Consolas"/>
                <a:ea typeface="Consolas"/>
                <a:cs typeface="Consolas"/>
                <a:sym typeface="Consolas"/>
              </a:rPr>
              <a:t>THE COMPOUNDING ADVANTAGE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484632" y="109728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Every engagement makes </a:t>
            </a:r>
            <a:r>
              <a:rPr lang="en-US" sz="3200" b="1">
                <a:solidFill>
                  <a:srgbClr val="303A87"/>
                </a:solidFill>
                <a:latin typeface="Arial"/>
                <a:ea typeface="Arial"/>
                <a:cs typeface="Arial"/>
                <a:sym typeface="Arial"/>
              </a:rPr>
              <a:t>the next one faster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502920" y="22860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813816" y="25237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234440" y="248716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Your repository grows with every project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234440" y="2852928"/>
            <a:ext cx="4434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Each engagement adds proven design your consultants draw from — the next rollout starts from everything the last one solved.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6245352" y="22860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6556248" y="25237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6976872" y="248716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Reuse across clients becomes a moat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976872" y="2852928"/>
            <a:ext cx="4434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The fifth project starts from the first four — accumulated design IP a competitor starting from scratch cannot match.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502920" y="37947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813816" y="40325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1234440" y="399592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Knowledge stays in the firm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1234440" y="4361688"/>
            <a:ext cx="4434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Design expertise is captured in the platform — it doesn't walk out the door when a consultant rolls off or leaves.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6245352" y="37947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 cmpd="sng">
            <a:solidFill>
              <a:srgbClr val="ECEBEF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C9C7C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6556248" y="40325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F773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AF773C"/>
                </a:solidFill>
                <a:latin typeface="Arial"/>
                <a:ea typeface="Arial"/>
                <a:cs typeface="Arial"/>
                <a:sym typeface="Arial"/>
              </a:rPr>
              <a:t>✦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6976872" y="399592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550"/>
              <a:buFont typeface="Arial"/>
              <a:buNone/>
            </a:pPr>
            <a:r>
              <a:rPr lang="en-US" sz="155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Not a tool — an intelligence layer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6976872" y="4361688"/>
            <a:ext cx="4434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87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75787F"/>
                </a:solidFill>
                <a:latin typeface="Arial"/>
                <a:ea typeface="Arial"/>
                <a:cs typeface="Arial"/>
                <a:sym typeface="Arial"/>
              </a:rPr>
              <a:t>Find-similar surfaces the solution, config and RICEF your firm already proved — the moment a matching requirement appears. Your accumulated design working on every new engagement, not sitting in an archive.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502920" y="5532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6181D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16181D"/>
                </a:solidFill>
                <a:latin typeface="Arial"/>
                <a:ea typeface="Arial"/>
                <a:cs typeface="Arial"/>
                <a:sym typeface="Arial"/>
              </a:rPr>
              <a:t>The more you deliver, the sharper your edge — and the same platform is a differentiator you can put in front of clients.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706374"/>
            <a:ext cx="202297" cy="1965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14"/>
          <p:cNvGrpSpPr/>
          <p:nvPr/>
        </p:nvGrpSpPr>
        <p:grpSpPr>
          <a:xfrm>
            <a:off x="502920" y="6271041"/>
            <a:ext cx="1500051" cy="387122"/>
            <a:chOff x="502920" y="6271041"/>
            <a:chExt cx="1500051" cy="387122"/>
          </a:xfrm>
        </p:grpSpPr>
        <p:pic>
          <p:nvPicPr>
            <p:cNvPr id="391" name="Google Shape;391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2920" y="6271041"/>
              <a:ext cx="1012414" cy="242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14"/>
            <p:cNvSpPr txBox="1"/>
            <p:nvPr/>
          </p:nvSpPr>
          <p:spPr>
            <a:xfrm>
              <a:off x="502920" y="6442719"/>
              <a:ext cx="1500051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Designveave  ·  Process Design Platform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1617</Words>
  <Application>Microsoft Macintosh PowerPoint</Application>
  <PresentationFormat>Custom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Vinod Kumar</cp:lastModifiedBy>
  <cp:revision>2</cp:revision>
  <dcterms:created xsi:type="dcterms:W3CDTF">2026-07-14T17:35:17Z</dcterms:created>
  <dcterms:modified xsi:type="dcterms:W3CDTF">2026-07-19T17:01:48Z</dcterms:modified>
</cp:coreProperties>
</file>